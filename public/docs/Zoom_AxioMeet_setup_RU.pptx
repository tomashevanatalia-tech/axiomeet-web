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2e0928637948e1" /><Relationship Type="http://schemas.openxmlformats.org/officeDocument/2006/relationships/extended-properties" Target="/docProps/app.xml" Id="Rc374961616e14559" /><Relationship Type="http://schemas.openxmlformats.org/officeDocument/2006/relationships/officeDocument" Target="/ppt/presentation.xml" Id="Re454591965f942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b82161bab941f6"/>
  </p:sldMasterIdLst>
  <p:notesMasterIdLst>
    <p:notesMasterId xmlns:r="http://schemas.openxmlformats.org/officeDocument/2006/relationships" r:id="Rc2a16c5484234939"/>
  </p:notesMasterIdLst>
  <p:sldIdLst>
    <p:sldId xmlns:r="http://schemas.openxmlformats.org/officeDocument/2006/relationships" id="256" r:id="R6655d1afd5584601"/>
    <p:sldId xmlns:r="http://schemas.openxmlformats.org/officeDocument/2006/relationships" id="257" r:id="Rb78050f6f96f49f6"/>
    <p:sldId xmlns:r="http://schemas.openxmlformats.org/officeDocument/2006/relationships" id="258" r:id="R739dcaf0c8eb4409"/>
    <p:sldId xmlns:r="http://schemas.openxmlformats.org/officeDocument/2006/relationships" id="259" r:id="Rc24aecb738e248ad"/>
    <p:sldId xmlns:r="http://schemas.openxmlformats.org/officeDocument/2006/relationships" id="260" r:id="Rb471b972cd064eb7"/>
    <p:sldId xmlns:r="http://schemas.openxmlformats.org/officeDocument/2006/relationships" id="261" r:id="R13015a263cc242a1"/>
    <p:sldId xmlns:r="http://schemas.openxmlformats.org/officeDocument/2006/relationships" id="262" r:id="Re7e863c1f6e1438f"/>
    <p:sldId xmlns:r="http://schemas.openxmlformats.org/officeDocument/2006/relationships" id="263" r:id="R29fdc9ecc7f64b14"/>
    <p:sldId xmlns:r="http://schemas.openxmlformats.org/officeDocument/2006/relationships" id="264" r:id="R153dffe0d0af4751"/>
    <p:sldId xmlns:r="http://schemas.openxmlformats.org/officeDocument/2006/relationships" id="265" r:id="R2155cb3f0ad94660"/>
    <p:sldId xmlns:r="http://schemas.openxmlformats.org/officeDocument/2006/relationships" id="266" r:id="R34b12c32e3dd4fa9"/>
    <p:sldId xmlns:r="http://schemas.openxmlformats.org/officeDocument/2006/relationships" id="267" r:id="Re8fb13f9d09d419e"/>
    <p:sldId xmlns:r="http://schemas.openxmlformats.org/officeDocument/2006/relationships" id="268" r:id="Rf3160290c9a043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2aeed8734e4c10" /><Relationship Type="http://schemas.openxmlformats.org/officeDocument/2006/relationships/slideMaster" Target="/ppt/slideMasters/slideMaster1.xml" Id="Rfdb82161bab941f6" /><Relationship Type="http://schemas.openxmlformats.org/officeDocument/2006/relationships/notesMaster" Target="/ppt/notesMasters/notesMaster1.xml" Id="Rc2a16c5484234939" /><Relationship Type="http://schemas.openxmlformats.org/officeDocument/2006/relationships/presProps" Target="/ppt/presProps.xml" Id="Rb3736089b96d49d4" /><Relationship Type="http://schemas.openxmlformats.org/officeDocument/2006/relationships/tableStyles" Target="/ppt/tableStyles.xml" Id="R42291923a8794587" /><Relationship Type="http://schemas.openxmlformats.org/officeDocument/2006/relationships/slide" Target="/ppt/slides/slide1.xml" Id="R6655d1afd5584601" /><Relationship Type="http://schemas.openxmlformats.org/officeDocument/2006/relationships/slide" Target="/ppt/slides/slide2.xml" Id="Rb78050f6f96f49f6" /><Relationship Type="http://schemas.openxmlformats.org/officeDocument/2006/relationships/slide" Target="/ppt/slides/slide3.xml" Id="R739dcaf0c8eb4409" /><Relationship Type="http://schemas.openxmlformats.org/officeDocument/2006/relationships/slide" Target="/ppt/slides/slide4.xml" Id="Rc24aecb738e248ad" /><Relationship Type="http://schemas.openxmlformats.org/officeDocument/2006/relationships/slide" Target="/ppt/slides/slide5.xml" Id="Rb471b972cd064eb7" /><Relationship Type="http://schemas.openxmlformats.org/officeDocument/2006/relationships/slide" Target="/ppt/slides/slide6.xml" Id="R13015a263cc242a1" /><Relationship Type="http://schemas.openxmlformats.org/officeDocument/2006/relationships/slide" Target="/ppt/slides/slide7.xml" Id="Re7e863c1f6e1438f" /><Relationship Type="http://schemas.openxmlformats.org/officeDocument/2006/relationships/slide" Target="/ppt/slides/slide8.xml" Id="R29fdc9ecc7f64b14" /><Relationship Type="http://schemas.openxmlformats.org/officeDocument/2006/relationships/slide" Target="/ppt/slides/slide9.xml" Id="R153dffe0d0af4751" /><Relationship Type="http://schemas.openxmlformats.org/officeDocument/2006/relationships/slide" Target="/ppt/slides/slide10.xml" Id="R2155cb3f0ad94660" /><Relationship Type="http://schemas.openxmlformats.org/officeDocument/2006/relationships/slide" Target="/ppt/slides/slide11.xml" Id="R34b12c32e3dd4fa9" /><Relationship Type="http://schemas.openxmlformats.org/officeDocument/2006/relationships/slide" Target="/ppt/slides/slide12.xml" Id="Re8fb13f9d09d419e" /><Relationship Type="http://schemas.openxmlformats.org/officeDocument/2006/relationships/slide" Target="/ppt/slides/slide13.xml" Id="Rf3160290c9a043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2a5dcdc5fd46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a3f59dbaf54908" /><Relationship Type="http://schemas.openxmlformats.org/officeDocument/2006/relationships/notesMaster" Target="/ppt/notesMasters/notesMaster1.xml" Id="R83c31dacd5d04b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b48d60c746403b" /><Relationship Type="http://schemas.openxmlformats.org/officeDocument/2006/relationships/notesMaster" Target="/ppt/notesMasters/notesMaster1.xml" Id="R0bda9ef4be4940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f1444b10824404" /><Relationship Type="http://schemas.openxmlformats.org/officeDocument/2006/relationships/notesMaster" Target="/ppt/notesMasters/notesMaster1.xml" Id="Red584d6862f242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2785fa28174127" /><Relationship Type="http://schemas.openxmlformats.org/officeDocument/2006/relationships/notesMaster" Target="/ppt/notesMasters/notesMaster1.xml" Id="R7f2220b9f44e4b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e5380aad6947d8" /><Relationship Type="http://schemas.openxmlformats.org/officeDocument/2006/relationships/notesMaster" Target="/ppt/notesMasters/notesMaster1.xml" Id="Re8884a96ecdc4a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3d9ea798e349fa" /><Relationship Type="http://schemas.openxmlformats.org/officeDocument/2006/relationships/notesMaster" Target="/ppt/notesMasters/notesMaster1.xml" Id="Rd5fa68470c5241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2a7a61cae84249" /><Relationship Type="http://schemas.openxmlformats.org/officeDocument/2006/relationships/notesMaster" Target="/ppt/notesMasters/notesMaster1.xml" Id="R99c929b445f147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274467880d419c" /><Relationship Type="http://schemas.openxmlformats.org/officeDocument/2006/relationships/notesMaster" Target="/ppt/notesMasters/notesMaster1.xml" Id="R1537c71ce9684c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ecf5cd3b2947f9" /><Relationship Type="http://schemas.openxmlformats.org/officeDocument/2006/relationships/notesMaster" Target="/ppt/notesMasters/notesMaster1.xml" Id="R44ac1626536b4f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1c8f22554b44c6" /><Relationship Type="http://schemas.openxmlformats.org/officeDocument/2006/relationships/notesMaster" Target="/ppt/notesMasters/notesMaster1.xml" Id="Rcc3155a8eaa24c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e4ba4e5c2764034" /><Relationship Type="http://schemas.openxmlformats.org/officeDocument/2006/relationships/notesMaster" Target="/ppt/notesMasters/notesMaster1.xml" Id="R7f791fb33f9746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cbec6113e146f8" /><Relationship Type="http://schemas.openxmlformats.org/officeDocument/2006/relationships/notesMaster" Target="/ppt/notesMasters/notesMaster1.xml" Id="R46527c24794146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aac3b75e0a34ff7" /><Relationship Type="http://schemas.openxmlformats.org/officeDocument/2006/relationships/notesMaster" Target="/ppt/notesMasters/notesMaster1.xml" Id="R06d874ecb5cc46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 презентации — провести администратора Zoom от настроек записи до подтвержденного импорта MP4 в AxioMeet.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https://developers.zoom.us/docs/internal-apps/create/</a:t>
            </a:r>
          </a:p>
          <a:p xmlns:a="http://schemas.openxmlformats.org/drawingml/2006/main">
            <a:r>
              <a:t>- https://support.zoom.com/hc/en/article?id=zm_kb&amp;sysparm_article=KB0063923&amp;language=en_US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Покажите цепочку слева направо: AxioMeet может принять учетные данные, но импорт не начнется без прав, облачной записи и завершенной обработки файла.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https://developers.zoom.us/docs/internal-apps/s2s-oauth/</a:t>
            </a:r>
          </a:p>
          <a:p xmlns:a="http://schemas.openxmlformats.org/drawingml/2006/main">
            <a:r>
              <a:t>- https://github.com/tomashevanatalia-tech/meeting-bot-final/blob/main/services/zoom_service.py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Если у пользователя нет пункта Developer в Marketplace, сначала выдайте ему нужные административные права. Для Cloud Recording нужен подходящий тариф и лицензированный host.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https://developers.zoom.us/docs/internal-apps/create/</a:t>
            </a:r>
          </a:p>
          <a:p xmlns:a="http://schemas.openxmlformats.org/drawingml/2006/main">
            <a:r>
              <a:t>- https://support.zoom.com/hc/en/article?id=zm_kb&amp;sysparm_article=KB0063923&amp;language=en_US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Включите Cloud Recording и обязательно включите отдельный аудиофайл каждого участника. Zoom должен создавать MP4 и отдельные M4A, иначе тест не пройден.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https://support.zoom.com/hc/en/article?id=zm_kb&amp;sysparm_article=KB0063923</a:t>
            </a:r>
          </a:p>
          <a:p xmlns:a="http://schemas.openxmlformats.org/drawingml/2006/main">
            <a:r>
              <a:t>- https://support.zoom.com/hc/en/article?id=zm_kb&amp;sysparm_article=KB0064676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Точные значения: Automatic recording — ON, Storage — Record in the cloud, Retention — не менее 30 дней. После настройки создайте новую тестовую встречу.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https://support.zoom.com/hc/en/article?id=zm_kb&amp;sysparm_article=KB0067954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вкладке Information используйте готовые значения: App Name AxioMeet, Company Name Senate, Developer Contact Name Andrey Zaytsev, Developer Contact Email admin@axiomeet.com. Для FOXMetoD создайте отдельное приложение и не используйте secret Senate.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https://developers.zoom.us/docs/internal-apps/create/</a:t>
            </a:r>
          </a:p>
          <a:p xmlns:a="http://schemas.openxmlformats.org/drawingml/2006/main">
            <a:r>
              <a:t>- https://developers.zoom.us/docs/internal-apps/s2s-oauth/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семь scopes обязательны для текущей реализации. Последний scope нужен для надёжного получения имён и состава участников встречи.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https://developers.zoom.us/docs/internal-apps/oauth-scopes-overview/</a:t>
            </a:r>
          </a:p>
          <a:p xmlns:a="http://schemas.openxmlformats.org/drawingml/2006/main">
            <a:r>
              <a:t>- https://github.com/tomashevanatalia-tech/meeting-bot-final/blob/main/services/zoom_service.py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Секретные значения невозможно заранее вписать в инструкцию: они уникальны для созданного приложения. Слайд показывает точный путь, где копировать каждый реквизит.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https://developers.zoom.us/docs/internal-apps/s2s-oauth/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Название подключения Senate Zoom и папку Senate — Zoom recordings можно копировать как есть. Account ID, Client ID и Client Secret берутся из одного S2S приложения. Для FOXMetoD: FOXMetoD Zoom — аренда Senate и папка Senate — FOXMetoD Zoom recordings.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Контрольная встреча длится 5 минут и включает минимум двух говорящих участников. Обязательный результат — один MP4 и отдельные M4A-файлы участников.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https://support.zoom.com/hc/en/article?id=zm_kb&amp;sysparm_article=KB0063923</a:t>
            </a:r>
          </a:p>
          <a:p xmlns:a="http://schemas.openxmlformats.org/drawingml/2006/main">
            <a:r>
              <a:t>- https://support.zoom.com/hc/en/article?id=zm_kb&amp;sysparm_article=KB0064676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ошибки 4711 важен не общий текст вроде ‘Recording: Read’, а точный granular scope. При HTTP 500 зафиксируйте время, организацию и скриншот.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https://developers.zoom.us/docs/internal-apps/oauth-scopes-overview/</a:t>
            </a:r>
          </a:p>
          <a:p xmlns:a="http://schemas.openxmlformats.org/drawingml/2006/main">
            <a:r>
              <a:t>- https://github.com/tomashevanatalia-tech/meeting-bot-final/blob/main/services/zoom_service.py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Точные значения webhook: Subscription Name AxioMeet, endpoint https://app.axiomeet.io/webhook, событие All Recordings have completed, код recording.completed. Secret Token в презентации не размещается.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https://developers.zoom.us/docs/api/webhooks/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Закройте настройку только после реального импорта MP4, отдельных M4A и данных участников. HeyGen к этому процессу не относится и не используется.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https://support.zoom.com/hc/en/article?id=zm_kb&amp;sysparm_article=KB0064676</a:t>
            </a:r>
          </a:p>
          <a:p xmlns:a="http://schemas.openxmlformats.org/drawingml/2006/main">
            <a:r>
              <a:t>- https://developers.zoom.us/docs/internal-apps/s2s-oauth/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356211344e4f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303eb0128e4ece" /><Relationship Type="http://schemas.openxmlformats.org/officeDocument/2006/relationships/slideLayout" Target="/ppt/slideLayouts/slideLayout1.xml" Id="R59a663fc962840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a663fc962840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424bf7ffb4599" /><Relationship Type="http://schemas.openxmlformats.org/officeDocument/2006/relationships/image" Target="/ppt/media/image.jpeg" Id="R2277e1320871418a" /><Relationship Type="http://schemas.openxmlformats.org/officeDocument/2006/relationships/notesSlide" Target="/ppt/notesSlides/notesSlide1.xml" Id="R9755793a67c144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d1b4e60974a01" /><Relationship Type="http://schemas.openxmlformats.org/officeDocument/2006/relationships/notesSlide" Target="/ppt/notesSlides/notesSlide2.xml" Id="R494e5708a6a54c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b4f1aaac44ea1" /><Relationship Type="http://schemas.openxmlformats.org/officeDocument/2006/relationships/notesSlide" Target="/ppt/notesSlides/notesSlide3.xml" Id="R85a417c0b1554a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2e4e4788e4ce7" /><Relationship Type="http://schemas.openxmlformats.org/officeDocument/2006/relationships/image" Target="/ppt/media/image2.jpeg" Id="R24be46eb3e4e4631" /><Relationship Type="http://schemas.openxmlformats.org/officeDocument/2006/relationships/notesSlide" Target="/ppt/notesSlides/notesSlide4.xml" Id="R6c70052a82f648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f1bfb1dc34746" /><Relationship Type="http://schemas.openxmlformats.org/officeDocument/2006/relationships/image" Target="/ppt/media/image3.jpeg" Id="Rf21fe9483215473f" /><Relationship Type="http://schemas.openxmlformats.org/officeDocument/2006/relationships/notesSlide" Target="/ppt/notesSlides/notesSlide5.xml" Id="Rcac086d09c8d45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9fdf4494342b2" /><Relationship Type="http://schemas.openxmlformats.org/officeDocument/2006/relationships/image" Target="/ppt/media/image4.jpeg" Id="Rb7776d418cde4f24" /><Relationship Type="http://schemas.openxmlformats.org/officeDocument/2006/relationships/notesSlide" Target="/ppt/notesSlides/notesSlide6.xml" Id="Rdabd61d959684f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733dedf3a480c" /><Relationship Type="http://schemas.openxmlformats.org/officeDocument/2006/relationships/notesSlide" Target="/ppt/notesSlides/notesSlide7.xml" Id="Rcf767c0f6f4e4b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c6ea54c374c0f" /><Relationship Type="http://schemas.openxmlformats.org/officeDocument/2006/relationships/notesSlide" Target="/ppt/notesSlides/notesSlide8.xml" Id="R89a600007bf140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943d64c3d4c09" /><Relationship Type="http://schemas.openxmlformats.org/officeDocument/2006/relationships/image" Target="/ppt/media/image5.jpeg" Id="R111dad7f8d344ac8" /><Relationship Type="http://schemas.openxmlformats.org/officeDocument/2006/relationships/notesSlide" Target="/ppt/notesSlides/notesSlide9.xml" Id="Rb738c2b206a84f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d1e2263fe42a4" /><Relationship Type="http://schemas.openxmlformats.org/officeDocument/2006/relationships/notesSlide" Target="/ppt/notesSlides/notesSlide10.xml" Id="Reac8a04603c649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f0bc1a8e6485d" /><Relationship Type="http://schemas.openxmlformats.org/officeDocument/2006/relationships/notesSlide" Target="/ppt/notesSlides/notesSlide11.xml" Id="R157883d7258f42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4d1fcd4fe4d38" /><Relationship Type="http://schemas.openxmlformats.org/officeDocument/2006/relationships/image" Target="/ppt/media/image6.jpeg" Id="R10abe03e90114d13" /><Relationship Type="http://schemas.openxmlformats.org/officeDocument/2006/relationships/notesSlide" Target="/ppt/notesSlides/notesSlide12.xml" Id="Rfdb589b63eab407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bacb6da7f4416" /><Relationship Type="http://schemas.openxmlformats.org/officeDocument/2006/relationships/notesSlide" Target="/ppt/notesSlides/notesSlide13.xml" Id="R21771c43a9e344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388BF5-918B-4E89-AE28-72586E23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133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1FF"/>
          </a:solidFill>
          <a:ln xmlns:a="http://schemas.openxmlformats.org/drawingml/2006/main" w="0">
            <a:solidFill>
              <a:srgbClr val="E7F1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895E9-67BC-45AB-B081-F4DA7A37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D8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D8CFF"/>
                </a:solidFill>
                <a:latin typeface="Arial"/>
                <a:ea typeface="Arial"/>
                <a:cs typeface="Arial"/>
              </a:rPr>
              <a:t>ПРАКТИЧЕСКАЯ ИНСТРУКЦИЯ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5258D-DF61-4691-B158-3DC3BFB1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504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Zoom → AxioMeet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5683F-201B-4969-9309-E7CBD2A2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5143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B596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B5964"/>
                </a:solidFill>
                <a:latin typeface="Arial"/>
                <a:ea typeface="Arial"/>
                <a:cs typeface="Arial"/>
              </a:rPr>
              <a:t>Как настроить передачу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1B596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B5964"/>
                </a:solidFill>
                <a:latin typeface="Arial"/>
                <a:ea typeface="Arial"/>
                <a:cs typeface="Arial"/>
              </a:rPr>
              <a:t>записей и данных встреч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6AE38-91CF-48D2-8FE3-50212F83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Для владельца или администратора Zoom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Версия: 26 августа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64B65-3034-4E0C-8362-684673D2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219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91203-CFDE-4544-B7E2-DEB6D63C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S2S OAuth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A084A-5554-4B59-9EE1-2B233C0E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19700"/>
            <a:ext cx="1581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F4AB8-DAD1-4B6D-91D7-C748A684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197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Cloud Recording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6260F-7141-4205-85DA-AA79893D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219700"/>
            <a:ext cx="685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0EC13A-7C8B-40B4-B0E1-AA803DC0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2197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MP4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EB6058-004D-4C76-953A-BEA24AB9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0050"/>
            <a:ext cx="5562600" cy="56769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7e1320871418a"/>
          <a:srcRect xmlns:a="http://schemas.openxmlformats.org/drawingml/2006/main" l="16367" t="0" r="163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9825" y="447675"/>
            <a:ext cx="5467350" cy="5581650"/>
          </a:xfrm>
          <a:prstGeom xmlns:a="http://schemas.openxmlformats.org/drawingml/2006/main" prst="roundRect">
            <a:avLst>
              <a:gd name="adj" fmla="val 2787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174C8E-51D1-4299-BBC1-562AB9BB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solidFill>
              <a:srgbClr val="CD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836FD2-1661-4619-8757-0899C738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AXIOMEET / ZOOM SETUP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395046-414A-4AF0-B1FA-D74ACD8F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481115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A28298-EBDB-41AF-899F-CB2FBCCF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8C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D8CFF"/>
                </a:solidFill>
                <a:latin typeface="Arial"/>
                <a:ea typeface="Arial"/>
                <a:cs typeface="Arial"/>
              </a:rPr>
              <a:t>НАСТРОЙКА ПЕРЕДАЧИ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6A73B0-9377-4481-AB24-C034346F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«Подключено» ещё не значит «данные идут»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66A8C-0367-43CF-B5C5-CE76CDA4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solidFill>
              <a:srgbClr val="CD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61FE2-0840-46BA-82B3-7948C8B2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ZOOM → AXIOMEET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17561-B131-44A2-B192-182163D6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ACBF2-DBA1-4222-9788-89E5B9A7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8C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D8CFF"/>
                </a:solidFill>
                <a:latin typeface="Arial"/>
                <a:ea typeface="Arial"/>
                <a:cs typeface="Arial"/>
              </a:rPr>
              <a:t>НАСТРОЙКА ПЕРЕДАЧИ ДАННЫХ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3A781-B393-4CF0-934D-C581E635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2419350" cy="247650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E4C29-5628-4A96-918C-0AF03F67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CFF"/>
          </a:solidFill>
          <a:ln xmlns:a="http://schemas.openxmlformats.org/drawingml/2006/main" w="0">
            <a:solidFill>
              <a:srgbClr val="2D8C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12966D-1406-493B-8F5A-5633CA6C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Доступ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98C0F-727E-4BC1-B44B-8EBBDB17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05200"/>
            <a:ext cx="20383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Account ID, Client ID и Client Secret должны выдавать рабочий S2S-токен.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BBBCF9-FA1B-4323-961C-75B18672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09800"/>
            <a:ext cx="2419350" cy="247650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371B3B-D2A1-43AA-B61D-1245D340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5964"/>
          </a:solidFill>
          <a:ln xmlns:a="http://schemas.openxmlformats.org/drawingml/2006/main" w="0">
            <a:solidFill>
              <a:srgbClr val="1B596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A9E08B-03C6-40FA-BB91-E0628C8C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765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Права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F0E0DA-E1FB-4361-B437-0DD72EE1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05200"/>
            <a:ext cx="20383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В токене должны быть все granular scopes, которые читает AxioMeet.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35C43A-92E9-40E3-B0B3-96B5D694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09800"/>
            <a:ext cx="2419350" cy="247650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191513-83CB-4019-B2C2-813D44FF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9A54"/>
          </a:solidFill>
          <a:ln xmlns:a="http://schemas.openxmlformats.org/drawingml/2006/main" w="0">
            <a:solidFill>
              <a:srgbClr val="E79A5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4DC2A1-48E7-4C07-8BCE-D196F889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765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Запись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326370-72A8-49B1-8736-352D737B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05200"/>
            <a:ext cx="20383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Встреча должна сохранить MP4 и отдельные M4A-файлы участников.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C63217-1F6A-4188-AA4F-8CB3F6A5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09800"/>
            <a:ext cx="2419350" cy="247650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353622-AE91-4476-94C5-01B45D8A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52"/>
          </a:solidFill>
          <a:ln xmlns:a="http://schemas.openxmlformats.org/drawingml/2006/main" w="0">
            <a:solidFill>
              <a:srgbClr val="2F6F5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E9E34F-7362-4052-B4C9-5646FBA4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765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Готовность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B95BC9-E825-431F-B281-85FDD2E7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05200"/>
            <a:ext cx="20383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Zoom сначала завершает обработку. Только после этого запись доступна по API.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E8C9DC-23C6-4B60-B630-D5AB5ADF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010150"/>
            <a:ext cx="5219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CE9E6"/>
          </a:solidFill>
          <a:ln xmlns:a="http://schemas.openxmlformats.org/drawingml/2006/main" w="9525">
            <a:solidFill>
              <a:srgbClr val="B4382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64154E-835E-4DCA-86C1-B780D9F4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38750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B4382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4382C"/>
                </a:solidFill>
                <a:latin typeface="Arial"/>
                <a:ea typeface="Arial"/>
                <a:cs typeface="Arial"/>
              </a:rPr>
              <a:t>Сбой любого звена = 0 записей в кабинете</a:t>
            </a:r>
          </a:p>
        </p:txBody>
      </p:sp>
    </p:spTree>
    <p:extLst>
      <p:ext uri="{BB962C8B-B14F-4D97-AF65-F5344CB8AC3E}">
        <p14:creationId xmlns:p14="http://schemas.microsoft.com/office/powerpoint/2010/main" val="20796283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AE7006-39D8-461A-A616-4FE0AF4E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8C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D8CFF"/>
                </a:solidFill>
                <a:latin typeface="Arial"/>
                <a:ea typeface="Arial"/>
                <a:cs typeface="Arial"/>
              </a:rPr>
              <a:t>НАСТРОЙКА ПЕРЕДАЧИ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7DF2F-6063-4D40-B1D6-6A5A712F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Перед началом: три обязательных условия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C67C0-210A-459D-AF46-BD92C3E0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solidFill>
              <a:srgbClr val="CD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1BA6B-1DEC-4C55-9020-7BE121DA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ZOOM → AXIOMEET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E8EF2-42AE-4A3E-BB92-3A7DDBB1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58C65-F29F-4555-846A-15E8C3B3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5429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CED4D-0752-40EE-A9F0-119EBCC5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1085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1FF"/>
          </a:solidFill>
          <a:ln xmlns:a="http://schemas.openxmlformats.org/drawingml/2006/main" w="0">
            <a:solidFill>
              <a:srgbClr val="E7F1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46EBB7-1AB3-4A25-8C64-0C9E53B2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D8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D8CFF"/>
                </a:solidFill>
                <a:latin typeface="Arial"/>
                <a:ea typeface="Arial"/>
                <a:cs typeface="Arial"/>
              </a:rPr>
              <a:t>ОБЯЗАТЕЛЬНО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4C331F-EA1A-4FD7-9151-616822EE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9050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Права администратора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6C0492-3199-4311-85F6-3DE41D71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2002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Owner/Admin + разрешение создавать и редактировать Server-to-Server OAuth apps.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5EEEE-9904-40DA-8FD6-CECF42E6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5429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648114-5740-496D-8A65-1A8D98E6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1085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1FF"/>
          </a:solidFill>
          <a:ln xmlns:a="http://schemas.openxmlformats.org/drawingml/2006/main" w="0">
            <a:solidFill>
              <a:srgbClr val="E7F1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C9D9B8-0E07-49FA-A901-53A60851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D8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D8CFF"/>
                </a:solidFill>
                <a:latin typeface="Arial"/>
                <a:ea typeface="Arial"/>
                <a:cs typeface="Arial"/>
              </a:rPr>
              <a:t>ОБЯЗАТЕЛЬНО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EE38C0-BEDF-4DD7-B71C-931B4455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33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Платная лицензия Zoom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41EE3F-0883-45E3-9744-7411B83F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289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Cloud Recording доступна для платного аккаунта; организатор теста должен быть Licensed.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1C522B-C5B5-4F7B-8685-462E465B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5429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4F2F5C-F1D0-43B7-8EB8-EDF17886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85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3"/>
          </a:solidFill>
          <a:ln xmlns:a="http://schemas.openxmlformats.org/drawingml/2006/main" w="0">
            <a:solidFill>
              <a:srgbClr val="FFF0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2E5819-54E0-41B2-B980-D5A11E46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79A5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79A54"/>
                </a:solidFill>
                <a:latin typeface="Arial"/>
                <a:ea typeface="Arial"/>
                <a:cs typeface="Arial"/>
              </a:rPr>
              <a:t>ПРОВЕРИТЬ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88CEF0-A198-4229-A082-9A1DF900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9624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Новая тестовая встреча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E90095-67D8-401E-9D99-340700DA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576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После изменения настроек создайте отдельную встречу на 2–3 минуты — не проверяйте только старую PMI.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6200C4-0E4F-4A31-A4E2-AE4FB19C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535305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B5964"/>
          </a:solidFill>
          <a:ln xmlns:a="http://schemas.openxmlformats.org/drawingml/2006/main" w="0">
            <a:solidFill>
              <a:srgbClr val="1B59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5D1DEA-E86F-4290-9786-E57455E9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383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Кто что делает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F92DC4-7D53-4247-90B1-0C1F5B96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051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D5D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D5DA"/>
                </a:solidFill>
                <a:latin typeface="Arial"/>
                <a:ea typeface="Arial"/>
                <a:cs typeface="Arial"/>
              </a:rPr>
              <a:t>ZOOM ADMIN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1A9562-3F49-4E1E-B0D5-562F05EC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09900"/>
            <a:ext cx="4362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Включает записи, создаёт S2S app, добавляет scopes и активирует приложение.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F4163F-2C5B-4F6B-A436-D4B9CBA8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100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D5D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8D5DA"/>
                </a:solidFill>
                <a:latin typeface="Arial"/>
                <a:ea typeface="Arial"/>
                <a:cs typeface="Arial"/>
              </a:rPr>
              <a:t>AXIOMEET ADMIN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4BC94F-9193-4AF7-AA05-1453DF37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14800"/>
            <a:ext cx="4362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Вставляет реквизиты напрямую в кабинет и проводит сквозной тест импорта.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B76A02-7E4F-4751-8E03-BDE00AD7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19700"/>
            <a:ext cx="3429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3"/>
          </a:solidFill>
          <a:ln xmlns:a="http://schemas.openxmlformats.org/drawingml/2006/main" w="0">
            <a:solidFill>
              <a:srgbClr val="FFF0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C6C7B8-F3F6-4D1C-BF0D-7F5D7828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197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B4382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4382C"/>
                </a:solidFill>
                <a:latin typeface="Arial"/>
                <a:ea typeface="Arial"/>
                <a:cs typeface="Arial"/>
              </a:rPr>
              <a:t>Не пересылайте Client Secret</a:t>
            </a:r>
          </a:p>
        </p:txBody>
      </p:sp>
    </p:spTree>
    <p:extLst>
      <p:ext uri="{BB962C8B-B14F-4D97-AF65-F5344CB8AC3E}">
        <p14:creationId xmlns:p14="http://schemas.microsoft.com/office/powerpoint/2010/main" val="12714300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A2F3A8-39BE-4711-9F09-2E514555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8C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D8CFF"/>
                </a:solidFill>
                <a:latin typeface="Arial"/>
                <a:ea typeface="Arial"/>
                <a:cs typeface="Arial"/>
              </a:rPr>
              <a:t>НАСТРОЙКА ПЕРЕДАЧИ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DB327-84A8-46C1-B467-8BCB030E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Шаг 1. Cloud Recording и отдельные аудиодорожки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94DE1-9D22-41A5-9938-2EB36538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solidFill>
              <a:srgbClr val="CD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AD2D7-6E39-49A6-B7D6-69CC58B1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ZOOM → AXIOMEET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45E6B-9341-451A-BBC5-BD2A1A86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519BA-82B3-47BB-8BB5-9DF03371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5429250" cy="4324350"/>
          </a:xfrm>
          <a:prstGeom xmlns:a="http://schemas.openxmlformats.org/drawingml/2006/main" prst="roundRect">
            <a:avLst>
              <a:gd name="adj" fmla="val 2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e46eb3e4e4631"/>
          <a:srcRect xmlns:a="http://schemas.openxmlformats.org/drawingml/2006/main" l="6679" t="0" r="66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" y="1628775"/>
            <a:ext cx="5334000" cy="4229100"/>
          </a:xfrm>
          <a:prstGeom xmlns:a="http://schemas.openxmlformats.org/drawingml/2006/main" prst="roundRect">
            <a:avLst>
              <a:gd name="adj" fmla="val 270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BCF7F-700B-4762-841C-57E3E0D4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002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59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B5964"/>
                </a:solidFill>
                <a:latin typeface="Arial"/>
                <a:ea typeface="Arial"/>
                <a:cs typeface="Arial"/>
              </a:rPr>
              <a:t>В Zoom выберите точно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22692-D8A8-42C1-A130-24FB0EC5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62150"/>
            <a:ext cx="5143500" cy="690563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8C99C3-EEBC-40FE-B99B-F80A2AA6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38350"/>
            <a:ext cx="1933575" cy="538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Cloud Recording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51AF4-9320-40E3-90B0-F73A0D49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028825"/>
            <a:ext cx="2847975" cy="557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8CFF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2D8CFF"/>
                </a:solidFill>
                <a:latin typeface="Courier New"/>
                <a:ea typeface="Courier New"/>
                <a:cs typeface="Courier New"/>
              </a:rPr>
              <a:t>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E5599C-5A00-4CA7-A212-B6B3B5FE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90813"/>
            <a:ext cx="5143500" cy="690563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EF2F2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58ACE-F4D5-4B2F-92A9-0021FA48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67013"/>
            <a:ext cx="1933575" cy="538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Video layout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CFFA98-3895-4A21-8972-49D4CA40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757488"/>
            <a:ext cx="2847975" cy="557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8CFF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2D8CFF"/>
                </a:solidFill>
                <a:latin typeface="Courier New"/>
                <a:ea typeface="Courier New"/>
                <a:cs typeface="Courier New"/>
              </a:rPr>
              <a:t>Record active speaker with shared screen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2D5CBE-A934-4EA1-8DA1-D66DC25C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19475"/>
            <a:ext cx="5143500" cy="690563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78938D-55C8-46E6-A91A-A4148AFE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95675"/>
            <a:ext cx="1933575" cy="538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Record audio-only files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1DDB84-095F-4832-B352-D0A8F6B0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486150"/>
            <a:ext cx="2847975" cy="557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8CFF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2D8CFF"/>
                </a:solidFill>
                <a:latin typeface="Courier New"/>
                <a:ea typeface="Courier New"/>
                <a:cs typeface="Courier New"/>
              </a:rPr>
              <a:t>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7E5AAC-E613-4CA4-849B-08BC8406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48138"/>
            <a:ext cx="5143500" cy="690563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EF2F2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D5F6A-22E4-47B5-9AC8-5FF192FF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24338"/>
            <a:ext cx="1933575" cy="538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Record a separate audio file of each participant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226508-1232-46AD-9EDB-7E86331D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214813"/>
            <a:ext cx="2847975" cy="557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8CFF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2D8CFF"/>
                </a:solidFill>
                <a:latin typeface="Courier New"/>
                <a:ea typeface="Courier New"/>
                <a:cs typeface="Courier New"/>
              </a:rPr>
              <a:t>ON — ОБЯЗАТЕЛЬНО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401A53-1418-4D6F-93EF-FD3A4B0C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86350"/>
            <a:ext cx="5143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8F4EC"/>
          </a:solidFill>
          <a:ln xmlns:a="http://schemas.openxmlformats.org/drawingml/2006/main" w="9525">
            <a:solidFill>
              <a:srgbClr val="2F6F5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09F844-3A79-44CE-88CB-609BBD95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1970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6F5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F52"/>
                </a:solidFill>
                <a:latin typeface="Arial"/>
                <a:ea typeface="Arial"/>
                <a:cs typeface="Arial"/>
              </a:rPr>
              <a:t>Cloud Recording → Advanced cloud recording settings → Record audio-only files → Record a separate audio file of each participant → ON</a:t>
            </a:r>
          </a:p>
        </p:txBody>
      </p:sp>
    </p:spTree>
    <p:extLst>
      <p:ext uri="{BB962C8B-B14F-4D97-AF65-F5344CB8AC3E}">
        <p14:creationId xmlns:p14="http://schemas.microsoft.com/office/powerpoint/2010/main" val="2991099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61C966-2D03-4BA7-B237-93E290CD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8C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D8CFF"/>
                </a:solidFill>
                <a:latin typeface="Arial"/>
                <a:ea typeface="Arial"/>
                <a:cs typeface="Arial"/>
              </a:rPr>
              <a:t>НАСТРОЙКА ПЕРЕДАЧИ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B2D68-D38C-47A4-A0E6-2495D4B1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Шаг 2. Automatic recording → cloud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5833F-DC41-4300-BB1D-5B1E10E0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solidFill>
              <a:srgbClr val="CD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FA41E-C122-4603-850B-B762695F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ZOOM → AXIOMEET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62A1F-79CE-4DE8-96B6-F248DFF8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8A2B56-D5EF-4BC3-9626-DCB8147C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5848350" cy="4324350"/>
          </a:xfrm>
          <a:prstGeom xmlns:a="http://schemas.openxmlformats.org/drawingml/2006/main" prst="roundRect">
            <a:avLst>
              <a:gd name="adj" fmla="val 2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1fe9483215473f"/>
          <a:srcRect xmlns:a="http://schemas.openxmlformats.org/drawingml/2006/main" l="3275" t="0" r="32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" y="1628775"/>
            <a:ext cx="5753100" cy="4229100"/>
          </a:xfrm>
          <a:prstGeom xmlns:a="http://schemas.openxmlformats.org/drawingml/2006/main" prst="roundRect">
            <a:avLst>
              <a:gd name="adj" fmla="val 270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5867DF-5941-4371-A811-518BCB4E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5735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59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B5964"/>
                </a:solidFill>
                <a:latin typeface="Arial"/>
                <a:ea typeface="Arial"/>
                <a:cs typeface="Arial"/>
              </a:rPr>
              <a:t>В Zoom выберите точно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9ECCBE-5AD4-4173-A24C-688B956C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19300"/>
            <a:ext cx="4686300" cy="63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03506-EBAF-4949-8C43-92AB16FC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95500"/>
            <a:ext cx="1743075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Automatic recording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D1A0E-A7C9-4BBF-BBA3-CD210A2E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85975"/>
            <a:ext cx="2581275" cy="50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8C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2D8CFF"/>
                </a:solidFill>
                <a:latin typeface="Courier New"/>
                <a:ea typeface="Courier New"/>
                <a:cs typeface="Courier New"/>
              </a:rPr>
              <a:t>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29FCCF-A68E-4980-89FE-3A45FFE4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92400"/>
            <a:ext cx="4686300" cy="63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EF2F2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1B9BA9-D401-4AF4-B857-4F59A623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68600"/>
            <a:ext cx="1743075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14FB63-0295-4230-94C0-6F96B55A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759075"/>
            <a:ext cx="2581275" cy="50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8C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2D8CFF"/>
                </a:solidFill>
                <a:latin typeface="Courier New"/>
                <a:ea typeface="Courier New"/>
                <a:cs typeface="Courier New"/>
              </a:rPr>
              <a:t>Record in the cloud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6F0F08-65A3-4DA5-AB20-9DA74D9B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65500"/>
            <a:ext cx="4686300" cy="63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89999E-77AA-4948-A76B-A81F0F50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41700"/>
            <a:ext cx="1743075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Retention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775899-BED3-4376-9126-98241E28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432175"/>
            <a:ext cx="2581275" cy="50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8C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2D8CFF"/>
                </a:solidFill>
                <a:latin typeface="Courier New"/>
                <a:ea typeface="Courier New"/>
                <a:cs typeface="Courier New"/>
              </a:rPr>
              <a:t>30 days or more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C59FD8-4D20-414F-A6AB-E919B71D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24350"/>
            <a:ext cx="46863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0E3"/>
          </a:solidFill>
          <a:ln xmlns:a="http://schemas.openxmlformats.org/drawingml/2006/main" w="9525">
            <a:solidFill>
              <a:srgbClr val="E79A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86C888-4261-4DC0-925A-4DE44824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52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9A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79A54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C199BA-072D-4633-8265-3931184B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91490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Выберите Record in the cloud, а не Record to computer. Изменение действует для будущих встреч; старые recurring/PMI проверьте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18123925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5B96B1-1A07-4962-8331-7F033317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8C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D8CFF"/>
                </a:solidFill>
                <a:latin typeface="Arial"/>
                <a:ea typeface="Arial"/>
                <a:cs typeface="Arial"/>
              </a:rPr>
              <a:t>НАСТРОЙКА ПЕРЕДАЧИ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1850D-2D58-4C80-A449-1F7AB701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Шаг 3. Создайте Server-to-Server OAuth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35BD8-0B37-4EBF-8E8D-71685543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solidFill>
              <a:srgbClr val="CD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146A8-CAA8-4BDA-9148-2E253AB6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ZOOM → AXIOMEET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9F6FF-2831-4B82-9D8C-ED003DCB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C94EC-AAF3-4453-ADDD-45782E60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4762500" cy="4324350"/>
          </a:xfrm>
          <a:prstGeom xmlns:a="http://schemas.openxmlformats.org/drawingml/2006/main" prst="roundRect">
            <a:avLst>
              <a:gd name="adj" fmla="val 2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776d418cde4f24"/>
          <a:stretch xmlns:a="http://schemas.openxmlformats.org/drawingml/2006/main"/>
        </p:blipFill>
        <p:spPr>
          <a:xfrm xmlns:a="http://schemas.openxmlformats.org/drawingml/2006/main">
            <a:off x="504825" y="2140777"/>
            <a:ext cx="4667250" cy="3205096"/>
          </a:xfrm>
          <a:prstGeom xmlns:a="http://schemas.openxmlformats.org/drawingml/2006/main" prst="roundRect">
            <a:avLst>
              <a:gd name="adj" fmla="val 270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2688E-E382-452E-B4A8-C913C464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5621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59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B5964"/>
                </a:solidFill>
                <a:latin typeface="Arial"/>
                <a:ea typeface="Arial"/>
                <a:cs typeface="Arial"/>
              </a:rPr>
              <a:t>Готовые значения для Senate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C1A4E-8DEF-407E-BBCA-B0871569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924050"/>
            <a:ext cx="5810250" cy="567690"/>
          </a:xfrm>
          <a:prstGeom xmlns:a="http://schemas.openxmlformats.org/drawingml/2006/main" prst="roundRect">
            <a:avLst>
              <a:gd name="adj" fmla="val 100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8090F-4B75-4AB6-8B84-5DE7D5E5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00250"/>
            <a:ext cx="2209800" cy="41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App Type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4FFD5-3CB7-4A4C-BEAF-E56F3E60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90725"/>
            <a:ext cx="32385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8C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D8CFF"/>
                </a:solidFill>
                <a:latin typeface="Courier New"/>
                <a:ea typeface="Courier New"/>
                <a:cs typeface="Courier New"/>
              </a:rPr>
              <a:t>Server-to-Server OAuth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F019E-8B13-428A-AC35-4CC37B04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29840"/>
            <a:ext cx="5810250" cy="567690"/>
          </a:xfrm>
          <a:prstGeom xmlns:a="http://schemas.openxmlformats.org/drawingml/2006/main" prst="roundRect">
            <a:avLst>
              <a:gd name="adj" fmla="val 10067"/>
            </a:avLst>
          </a:prstGeom>
          <a:solidFill xmlns:a="http://schemas.openxmlformats.org/drawingml/2006/main">
            <a:srgbClr val="EEF2F2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940A09-1555-436F-90AA-3BA9A800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06040"/>
            <a:ext cx="2209800" cy="41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App Name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BE3871-3652-4E14-895E-08DB657E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96515"/>
            <a:ext cx="32385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8C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D8CFF"/>
                </a:solidFill>
                <a:latin typeface="Courier New"/>
                <a:ea typeface="Courier New"/>
                <a:cs typeface="Courier New"/>
              </a:rPr>
              <a:t>AxioMeet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F9F40D-8184-434A-967B-87CE4911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35630"/>
            <a:ext cx="5810250" cy="567690"/>
          </a:xfrm>
          <a:prstGeom xmlns:a="http://schemas.openxmlformats.org/drawingml/2006/main" prst="roundRect">
            <a:avLst>
              <a:gd name="adj" fmla="val 100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0E9DDB-0528-4C30-B6D5-A6F475AA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11830"/>
            <a:ext cx="2209800" cy="41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Company Name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B7D8DD-B6D8-4F45-8E55-357C997C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2305"/>
            <a:ext cx="32385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8C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D8CFF"/>
                </a:solidFill>
                <a:latin typeface="Courier New"/>
                <a:ea typeface="Courier New"/>
                <a:cs typeface="Courier New"/>
              </a:rPr>
              <a:t>Senate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79ABE-7319-4090-89BD-4D8BEA9C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741420"/>
            <a:ext cx="5810250" cy="567690"/>
          </a:xfrm>
          <a:prstGeom xmlns:a="http://schemas.openxmlformats.org/drawingml/2006/main" prst="roundRect">
            <a:avLst>
              <a:gd name="adj" fmla="val 10067"/>
            </a:avLst>
          </a:prstGeom>
          <a:solidFill xmlns:a="http://schemas.openxmlformats.org/drawingml/2006/main">
            <a:srgbClr val="EEF2F2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12D6F6-ED96-4E9F-AEBB-4EB90DF8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817620"/>
            <a:ext cx="2209800" cy="41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Developer Contact Name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DDAF65-052E-4064-95B2-BBD4FD22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08095"/>
            <a:ext cx="32385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8C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D8CFF"/>
                </a:solidFill>
                <a:latin typeface="Courier New"/>
                <a:ea typeface="Courier New"/>
                <a:cs typeface="Courier New"/>
              </a:rPr>
              <a:t>Andrey Zaytsev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FB4F3-24E6-44EF-A46D-31D17D5B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347210"/>
            <a:ext cx="5810250" cy="567690"/>
          </a:xfrm>
          <a:prstGeom xmlns:a="http://schemas.openxmlformats.org/drawingml/2006/main" prst="roundRect">
            <a:avLst>
              <a:gd name="adj" fmla="val 100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EF5D7D-D869-46B7-B188-F1999722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423410"/>
            <a:ext cx="2209800" cy="415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Developer Contact Email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CE665C-9EA0-4B1F-BFF4-A459A959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13885"/>
            <a:ext cx="32385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8C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D8CFF"/>
                </a:solidFill>
                <a:latin typeface="Courier New"/>
                <a:ea typeface="Courier New"/>
                <a:cs typeface="Courier New"/>
              </a:rPr>
              <a:t>admin@axiomeet.com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8F7144-FD92-4CEA-9872-8746895F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162550"/>
            <a:ext cx="5810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F1FF"/>
          </a:solidFill>
          <a:ln xmlns:a="http://schemas.openxmlformats.org/drawingml/2006/main" w="9525">
            <a:solidFill>
              <a:srgbClr val="2D8C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6E49E7-C241-447A-B9B4-3DC8B552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3149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D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D8CFF"/>
                </a:solidFill>
                <a:latin typeface="Arial"/>
                <a:ea typeface="Arial"/>
                <a:cs typeface="Arial"/>
              </a:rPr>
              <a:t>FOXMetoD: App Name = AxioMeet — FOXMetoD · Company Name = FOXMetoD · отдельное S2S приложение</a:t>
            </a:r>
          </a:p>
        </p:txBody>
      </p:sp>
    </p:spTree>
    <p:extLst>
      <p:ext uri="{BB962C8B-B14F-4D97-AF65-F5344CB8AC3E}">
        <p14:creationId xmlns:p14="http://schemas.microsoft.com/office/powerpoint/2010/main" val="9424208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D9D143-13BD-4E59-B239-CAF99AD0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8C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D8CFF"/>
                </a:solidFill>
                <a:latin typeface="Arial"/>
                <a:ea typeface="Arial"/>
                <a:cs typeface="Arial"/>
              </a:rPr>
              <a:t>НАСТРОЙКА ПЕРЕДАЧИ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82777-CFF8-4849-BEB8-04A8B588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Шаг 4. Добавьте точные granular scopes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F682C-F622-4B47-B96A-CDB0FD68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solidFill>
              <a:srgbClr val="CD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74DDE-C277-4067-A8FD-53143213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ZOOM → AXIOMEET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40445-CA91-4CEF-89F3-D1FEDD8D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91F70-CE19-4157-8F59-623D954D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2776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70BA9-B0B2-4CB5-8244-14BBE15B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A89D19-A8A2-4A31-9C20-C9018426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73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Зачем нужен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17A8AD-59B9-41B3-96BD-789C359C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11277600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0008E-70D0-4C62-8CC4-BF39B867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1820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101820"/>
                </a:solidFill>
                <a:latin typeface="Courier New"/>
                <a:ea typeface="Courier New"/>
                <a:cs typeface="Courier New"/>
              </a:rPr>
              <a:t>cloud_recording:read:list_user_recordings:admin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445D44-7397-4D11-A467-22720F22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62175"/>
            <a:ext cx="501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Найти записи пользователя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F577D-5CCB-4E7B-A870-B3C5821C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9850"/>
            <a:ext cx="11277600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CF729-5A6B-49BF-AB22-13B6E91C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1820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101820"/>
                </a:solidFill>
                <a:latin typeface="Courier New"/>
                <a:ea typeface="Courier New"/>
                <a:cs typeface="Courier New"/>
              </a:rPr>
              <a:t>cloud_recording:read:list_recording_files:admin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28038F-E4DA-466E-BE64-0D39241D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95575"/>
            <a:ext cx="501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Получить список файлов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54E72B-7C69-49FD-A312-675D9EAB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1277600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539252-E38B-410B-9B8B-9CC45A93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1820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101820"/>
                </a:solidFill>
                <a:latin typeface="Courier New"/>
                <a:ea typeface="Courier New"/>
                <a:cs typeface="Courier New"/>
              </a:rPr>
              <a:t>cloud_recording:read:recording:admin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852CD6-C3A3-4CB0-8D81-8EC5D6E8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28975"/>
            <a:ext cx="501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Прочитать запись и метаданные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F00590-D7E9-4849-94CE-8E7B200E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11277600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21116A-BC97-4AA8-8D77-9E0BCD1B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0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01820"/>
                </a:solidFill>
                <a:latin typeface="Courier New"/>
                <a:ea typeface="Courier New"/>
                <a:cs typeface="Courier New"/>
              </a:rPr>
              <a:t>user:read:list_users:admin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09EFF0-A923-412F-B10D-8669A0CD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62375"/>
            <a:ext cx="501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Получить список пользователей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A7C918-BA5A-4FC4-BD24-6AA1FD3B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0050"/>
            <a:ext cx="11277600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25BA33-7FE4-47F6-A629-EA99FF0F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0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01820"/>
                </a:solidFill>
                <a:latin typeface="Courier New"/>
                <a:ea typeface="Courier New"/>
                <a:cs typeface="Courier New"/>
              </a:rPr>
              <a:t>user:read:user:admin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412856-C873-4639-A684-0C5ABD2D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95775"/>
            <a:ext cx="501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Прочитать профиль host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8F17C1-2AA7-4610-9014-874968B7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11277600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4644E0-F366-4AC9-A46B-202486AC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0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01820"/>
                </a:solidFill>
                <a:latin typeface="Courier New"/>
                <a:ea typeface="Courier New"/>
                <a:cs typeface="Courier New"/>
              </a:rPr>
              <a:t>meeting:read:meeting:admin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9F84CF-DE5B-49C2-A615-167D8758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29175"/>
            <a:ext cx="501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Прочитать данные встречи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EE732A-E299-4FF9-B627-9060169C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11277600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0E3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BE8F97-A753-4ACD-BEEC-5A57B26C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0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01820"/>
                </a:solidFill>
                <a:latin typeface="Courier New"/>
                <a:ea typeface="Courier New"/>
                <a:cs typeface="Courier New"/>
              </a:rPr>
              <a:t>meeting:read:list_past_participants:admin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B4B8DC-469A-4334-85DE-E8F7FCEC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62575"/>
            <a:ext cx="501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9A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79A54"/>
                </a:solidFill>
                <a:latin typeface="Arial"/>
                <a:ea typeface="Arial"/>
                <a:cs typeface="Arial"/>
              </a:rPr>
              <a:t>Участники — обязательно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E408CC-179C-449F-9B06-D8576C20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733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38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382C"/>
                </a:solidFill>
                <a:latin typeface="Arial"/>
                <a:ea typeface="Arial"/>
                <a:cs typeface="Arial"/>
              </a:rPr>
              <a:t>Не добавляйте write/delete scopes: для стандартного импорта они не нужны.</a:t>
            </a:r>
          </a:p>
        </p:txBody>
      </p:sp>
    </p:spTree>
    <p:extLst>
      <p:ext uri="{BB962C8B-B14F-4D97-AF65-F5344CB8AC3E}">
        <p14:creationId xmlns:p14="http://schemas.microsoft.com/office/powerpoint/2010/main" val="20178333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D87945-F8A4-4FED-8931-C34ADEB2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8C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D8CFF"/>
                </a:solidFill>
                <a:latin typeface="Arial"/>
                <a:ea typeface="Arial"/>
                <a:cs typeface="Arial"/>
              </a:rPr>
              <a:t>НАСТРОЙКА ПЕРЕДАЧИ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AFC7F5-8311-4193-BC4D-B1762B8F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Шаг 5. Активируйте приложение и возьмите реквизиты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579F3-14AD-4505-A670-6AE616A7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solidFill>
              <a:srgbClr val="CD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D9E348-5D54-4533-BDB9-D912DFB2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ZOOM → AXIOMEET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D5CFB8-F3A8-4CC5-9819-E62635C2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6DEF1-9981-4F48-8097-E5363E74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7105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59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B5964"/>
                </a:solidFill>
                <a:latin typeface="Arial"/>
                <a:ea typeface="Arial"/>
                <a:cs typeface="Arial"/>
              </a:rPr>
              <a:t>Что именно копировать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9CD59-885D-4C19-927B-90232AC1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71056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76F4C-CF28-40F0-AB86-554230DC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2752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Account 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505FB2-91BF-44B8-90A4-20A97014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124075"/>
            <a:ext cx="3990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8C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2D8CFF"/>
                </a:solidFill>
                <a:latin typeface="Courier New"/>
                <a:ea typeface="Courier New"/>
                <a:cs typeface="Courier New"/>
              </a:rPr>
              <a:t>Zoom → App Credentials → Account 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0A4D6-3C66-4E3A-9E4C-508AC5AB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71056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2F2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EF71B-D79F-4C4D-BDA1-14F4C90D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2752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Client 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78EE3-3722-4FBB-81A6-255416C9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847975"/>
            <a:ext cx="3990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8C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2D8CFF"/>
                </a:solidFill>
                <a:latin typeface="Courier New"/>
                <a:ea typeface="Courier New"/>
                <a:cs typeface="Courier New"/>
              </a:rPr>
              <a:t>Zoom → App Credentials → Client 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96FF70-8FBA-45CB-AD10-16790739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05200"/>
            <a:ext cx="71056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73E040-E760-4567-8422-4FE2C2ED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2752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Client Secret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187D18-44F0-49E2-945A-FDC37E7C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571875"/>
            <a:ext cx="3990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8C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2D8CFF"/>
                </a:solidFill>
                <a:latin typeface="Courier New"/>
                <a:ea typeface="Courier New"/>
                <a:cs typeface="Courier New"/>
              </a:rPr>
              <a:t>Zoom → App Credentials → Client Secret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57375D-9A69-46C4-AFAF-5A48D9AB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71056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2F2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F508E8-E7C7-42E1-BC58-CB4D1E55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2752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Activation status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174056-79FD-41E6-86A2-E4EB6A0E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295775"/>
            <a:ext cx="3990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8C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2D8CFF"/>
                </a:solidFill>
                <a:latin typeface="Courier New"/>
                <a:ea typeface="Courier New"/>
                <a:cs typeface="Courier New"/>
              </a:rPr>
              <a:t>Active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B37641-78C8-42F4-9165-836FD587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95450"/>
            <a:ext cx="3810000" cy="3257550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0DEFC1-FB65-489B-8196-9F280D06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383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Безопасный порядок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AA7EAC-838F-453A-8E69-5C764827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1623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1. Откройте форму AxioMeet.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2. Скопируйте три значения из одного приложения.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3. Сразу вставьте их в форму.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4. Нажмите Проверить.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5. При утечке — Rotate/Regenerate.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600904-AFFB-4666-90FC-5126B16F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CE9E6"/>
          </a:solidFill>
          <a:ln xmlns:a="http://schemas.openxmlformats.org/drawingml/2006/main" w="9525">
            <a:solidFill>
              <a:srgbClr val="B4382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E14FA6-2A24-4AF3-92BD-98EA9F20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38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4382C"/>
                </a:solidFill>
                <a:latin typeface="Arial"/>
                <a:ea typeface="Arial"/>
                <a:cs typeface="Arial"/>
              </a:rPr>
              <a:t>Client Secret — пароль. Не вставляйте реальное значение в презентацию, email, Telegram, Slack или тикет.</a:t>
            </a:r>
          </a:p>
        </p:txBody>
      </p:sp>
    </p:spTree>
    <p:extLst>
      <p:ext uri="{BB962C8B-B14F-4D97-AF65-F5344CB8AC3E}">
        <p14:creationId xmlns:p14="http://schemas.microsoft.com/office/powerpoint/2010/main" val="18196483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CE5410-EC0E-4EED-8454-8885B0D7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8C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D8CFF"/>
                </a:solidFill>
                <a:latin typeface="Arial"/>
                <a:ea typeface="Arial"/>
                <a:cs typeface="Arial"/>
              </a:rPr>
              <a:t>НАСТРОЙКА ПЕРЕДАЧИ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23F09-CCA3-4E62-AA09-600C2054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Шаг 6. Подключите Zoom в кабинете AxioMeet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AE74E-C279-4454-BF88-E8310CFF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solidFill>
              <a:srgbClr val="CD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43C26-6C8C-42D7-AC32-E1E66F46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ZOOM → AXIOMEET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8BAA2-A1A7-42A7-A5C7-67903AB0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FDAFF-0E92-45B6-9EF0-EFC82C4A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5010150" cy="4324350"/>
          </a:xfrm>
          <a:prstGeom xmlns:a="http://schemas.openxmlformats.org/drawingml/2006/main" prst="roundRect">
            <a:avLst>
              <a:gd name="adj" fmla="val 2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1dad7f8d344ac8"/>
          <a:stretch xmlns:a="http://schemas.openxmlformats.org/drawingml/2006/main"/>
        </p:blipFill>
        <p:spPr>
          <a:xfrm xmlns:a="http://schemas.openxmlformats.org/drawingml/2006/main">
            <a:off x="504825" y="2270562"/>
            <a:ext cx="4914900" cy="2945527"/>
          </a:xfrm>
          <a:prstGeom xmlns:a="http://schemas.openxmlformats.org/drawingml/2006/main" prst="roundRect">
            <a:avLst>
              <a:gd name="adj" fmla="val 270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15F33-42CB-4AF0-B49D-26B7B997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562100"/>
            <a:ext cx="556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59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B5964"/>
                </a:solidFill>
                <a:latin typeface="Arial"/>
                <a:ea typeface="Arial"/>
                <a:cs typeface="Arial"/>
              </a:rPr>
              <a:t>Готовые значения для Senate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40B6D-DA3F-4A7E-AEB7-419CB26C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24050"/>
            <a:ext cx="5562600" cy="56007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2470B-C2BE-4E1F-8BF0-C341220A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00250"/>
            <a:ext cx="2105025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Название подключения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B471C-C531-4A67-98E0-39633B89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90725"/>
            <a:ext cx="309562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8CFF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2D8CFF"/>
                </a:solidFill>
                <a:latin typeface="Courier New"/>
                <a:ea typeface="Courier New"/>
                <a:cs typeface="Courier New"/>
              </a:rPr>
              <a:t>Senate Zoom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E0381-D534-4547-A403-528D72EE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22220"/>
            <a:ext cx="5562600" cy="56007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EF2F2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11C10B-DC3D-4D4F-99EA-0D47AE0E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98420"/>
            <a:ext cx="2105025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Account 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9B9B2D-64A1-480B-8AA8-CA36E144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88895"/>
            <a:ext cx="309562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8CFF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2D8CFF"/>
                </a:solidFill>
                <a:latin typeface="Courier New"/>
                <a:ea typeface="Courier New"/>
                <a:cs typeface="Courier New"/>
              </a:rPr>
              <a:t>из App Credentials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C1D314-49DD-4043-9B2B-0CBCCDE3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20390"/>
            <a:ext cx="5562600" cy="56007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726428-40D9-4439-9ADB-D31BB69D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96590"/>
            <a:ext cx="2105025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Client 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64AD8-1C82-4A3D-902F-4A031C9A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187065"/>
            <a:ext cx="309562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8CFF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2D8CFF"/>
                </a:solidFill>
                <a:latin typeface="Courier New"/>
                <a:ea typeface="Courier New"/>
                <a:cs typeface="Courier New"/>
              </a:rPr>
              <a:t>из App Credentials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F1FE46-E76F-4342-9531-E5497DAC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18560"/>
            <a:ext cx="5562600" cy="56007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EF2F2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5AEB8E-2D3B-4841-9995-741C9EDC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94760"/>
            <a:ext cx="2105025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Client Secret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2DB65A-620D-48A2-9291-AF50279F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785235"/>
            <a:ext cx="309562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8CFF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2D8CFF"/>
                </a:solidFill>
                <a:latin typeface="Courier New"/>
                <a:ea typeface="Courier New"/>
                <a:cs typeface="Courier New"/>
              </a:rPr>
              <a:t>из App Credentials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30671E-08B7-4309-8C59-A7C464A2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316730"/>
            <a:ext cx="5562600" cy="56007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172E4F-F035-4057-8EA8-1AFEF0F7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92930"/>
            <a:ext cx="2105025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Папка Google Drive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450DD7-3C6B-40DE-9F9A-FDE29CAC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383405"/>
            <a:ext cx="309562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8CFF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2D8CFF"/>
                </a:solidFill>
                <a:latin typeface="Courier New"/>
                <a:ea typeface="Courier New"/>
                <a:cs typeface="Courier New"/>
              </a:rPr>
              <a:t>Senate — Zoom recordings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B9E598-D1EB-442A-9BE1-34A3DA28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124450"/>
            <a:ext cx="55626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0E3"/>
          </a:solidFill>
          <a:ln xmlns:a="http://schemas.openxmlformats.org/drawingml/2006/main" w="9525">
            <a:solidFill>
              <a:srgbClr val="E79A5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A07E72-B2D0-40D1-B24E-DC46A69F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276850"/>
            <a:ext cx="5105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79A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79A54"/>
                </a:solidFill>
                <a:latin typeface="Arial"/>
                <a:ea typeface="Arial"/>
                <a:cs typeface="Arial"/>
              </a:rPr>
              <a:t>API-ключ Onboardix не удалять. Если он действительно отсутствует: имя нового ключа = Onboardix — Senate.</a:t>
            </a:r>
          </a:p>
        </p:txBody>
      </p:sp>
    </p:spTree>
    <p:extLst>
      <p:ext uri="{BB962C8B-B14F-4D97-AF65-F5344CB8AC3E}">
        <p14:creationId xmlns:p14="http://schemas.microsoft.com/office/powerpoint/2010/main" val="20852448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DBA6B1-7E0F-4C9C-AECD-871A9259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8C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D8CFF"/>
                </a:solidFill>
                <a:latin typeface="Arial"/>
                <a:ea typeface="Arial"/>
                <a:cs typeface="Arial"/>
              </a:rPr>
              <a:t>НАСТРОЙКА ПЕРЕДАЧИ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6233E3-E695-461F-B337-D42F678B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Шаг 7. Проведите сквозной тест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22E96-F225-4229-BBFE-570FAE09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solidFill>
              <a:srgbClr val="CD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72707-2843-41CC-98BC-EB106B70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ZOOM → AXIOMEET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7AE44-9FF2-4C13-A062-8EE6F4E0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0AE3E-D7AD-47C6-A052-2BBF5A87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59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B5964"/>
                </a:solidFill>
                <a:latin typeface="Arial"/>
                <a:ea typeface="Arial"/>
                <a:cs typeface="Arial"/>
              </a:rPr>
              <a:t>Параметры контрольной встречи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3EE1B-F551-4064-B0B7-5F7EA259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5619750" cy="56007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D71D9-2960-4BDE-9EFE-F291C9BE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21336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Topic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98E173-1E67-4826-B687-3C943856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66925"/>
            <a:ext cx="312420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8C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D8CFF"/>
                </a:solidFill>
                <a:latin typeface="Courier New"/>
                <a:ea typeface="Courier New"/>
                <a:cs typeface="Courier New"/>
              </a:rPr>
              <a:t>AxioMeet — проверка Zoom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54E6AE-894A-46A3-8D4C-301B481B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8420"/>
            <a:ext cx="5619750" cy="56007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EF2F2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B339B-A9BF-448C-A2B7-3478423B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74620"/>
            <a:ext cx="21336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Duration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A870BD-17C1-4E3D-8FDC-05CA7668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65095"/>
            <a:ext cx="312420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8C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D8CFF"/>
                </a:solidFill>
                <a:latin typeface="Courier New"/>
                <a:ea typeface="Courier New"/>
                <a:cs typeface="Courier New"/>
              </a:rPr>
              <a:t>5 minutes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E31300-1BFB-4BC0-B0DA-43F817A5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96590"/>
            <a:ext cx="5619750" cy="56007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39D7EF-1EE6-4B0B-A737-6106A518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72790"/>
            <a:ext cx="21336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Participants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E2C69-1D82-4D9E-8C2E-BAC67EEA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63265"/>
            <a:ext cx="312420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8C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D8CFF"/>
                </a:solidFill>
                <a:latin typeface="Courier New"/>
                <a:ea typeface="Courier New"/>
                <a:cs typeface="Courier New"/>
              </a:rPr>
              <a:t>2 or more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BEB755-3FFA-48C4-B294-DE0A575B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5619750" cy="56007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EF2F2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8744EF-48D5-47BC-84A3-63E51030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70960"/>
            <a:ext cx="21336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Expected video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27DE7B-0AB8-439C-9E49-B8850FC3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61435"/>
            <a:ext cx="312420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8C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D8CFF"/>
                </a:solidFill>
                <a:latin typeface="Courier New"/>
                <a:ea typeface="Courier New"/>
                <a:cs typeface="Courier New"/>
              </a:rPr>
              <a:t>1 MP4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F117F3-F44C-4DA9-B544-0B041EF1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92930"/>
            <a:ext cx="5619750" cy="56007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64DEA3-77EA-4862-863E-FE496156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69130"/>
            <a:ext cx="21336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Expected audio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EC8DAB-CBA6-49F9-88E2-94E28063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459605"/>
            <a:ext cx="312420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8C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D8CFF"/>
                </a:solidFill>
                <a:latin typeface="Courier New"/>
                <a:ea typeface="Courier New"/>
                <a:cs typeface="Courier New"/>
              </a:rPr>
              <a:t>separate M4A files for participants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F264C1-1F2F-4555-8F17-05FEB099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38300"/>
            <a:ext cx="4933950" cy="33528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F8D71B-405E-4289-91DA-6FFBF57E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2405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B596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B5964"/>
                </a:solidFill>
                <a:latin typeface="Arial"/>
                <a:ea typeface="Arial"/>
                <a:cs typeface="Arial"/>
              </a:rPr>
              <a:t>Порядок проверки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3B7570-F097-457E-900A-D2AB8E95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57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CFF"/>
          </a:solidFill>
          <a:ln xmlns:a="http://schemas.openxmlformats.org/drawingml/2006/main" w="0">
            <a:solidFill>
              <a:srgbClr val="2D8C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CB0D20-6814-4F19-9EEE-941F9454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Создайте новую встречу под Licensed host.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493C11-CCDE-4867-8CB2-BE577C69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33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CFF"/>
          </a:solidFill>
          <a:ln xmlns:a="http://schemas.openxmlformats.org/drawingml/2006/main" w="0">
            <a:solidFill>
              <a:srgbClr val="2D8C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89CE5E-E2E5-49AA-B772-470ABB4F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051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Оба участника говорят; включите экран на 1 минуту.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EC6D08-13D5-4E4C-9F9D-FCE7544C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09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CFF"/>
          </a:solidFill>
          <a:ln xmlns:a="http://schemas.openxmlformats.org/drawingml/2006/main" w="0">
            <a:solidFill>
              <a:srgbClr val="2D8C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766B44-346D-4CA3-AB8E-92ED1F38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813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Завершите встречу для всех.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FC87DD-5101-4A1F-92C2-77D92712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86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CFF"/>
          </a:solidFill>
          <a:ln xmlns:a="http://schemas.openxmlformats.org/drawingml/2006/main" w="0">
            <a:solidFill>
              <a:srgbClr val="2D8C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486D47-1C7E-4D8D-82A1-4BEF76F9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576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Дождитесь Cloud Recording: Completed.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FE177F-7C94-4A16-A1D4-41695AA4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62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52"/>
          </a:solidFill>
          <a:ln xmlns:a="http://schemas.openxmlformats.org/drawingml/2006/main" w="0">
            <a:solidFill>
              <a:srgbClr val="2F6F5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4DFA64-CFC8-48CE-8894-557ABADF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338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Проверьте MP4, отдельные M4A и данные в AxioMeet.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3EB58C-5A16-4459-A969-5A1F5C71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08966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B5964"/>
          </a:solidFill>
          <a:ln xmlns:a="http://schemas.openxmlformats.org/drawingml/2006/main" w="0">
            <a:solidFill>
              <a:srgbClr val="1B596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D576D0-4567-4BC2-B0B4-2AC3D9FB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1032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Тест пройден только когда в AxioMeet появились реальный MP4, отдельные M4A и имена участников.</a:t>
            </a:r>
          </a:p>
        </p:txBody>
      </p:sp>
    </p:spTree>
    <p:extLst>
      <p:ext uri="{BB962C8B-B14F-4D97-AF65-F5344CB8AC3E}">
        <p14:creationId xmlns:p14="http://schemas.microsoft.com/office/powerpoint/2010/main" val="3673935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E90F60-6E39-4785-82D8-F1E6ECD9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8C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D8CFF"/>
                </a:solidFill>
                <a:latin typeface="Arial"/>
                <a:ea typeface="Arial"/>
                <a:cs typeface="Arial"/>
              </a:rPr>
              <a:t>НАСТРОЙКА ПЕРЕДАЧИ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47690-A46F-40EB-B75A-434AEC47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Если данных нет: диагностика по симптому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53502-262E-4E98-9612-B0010B39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solidFill>
              <a:srgbClr val="CD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EE118-DC6F-44AB-BD42-673834A3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ZOOM → AXIOMEET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222F5-C0D6-4B1E-BBEB-0D17A0D8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398C0-1AF7-4596-AE56-69DA89F5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12776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3759B-3651-4172-BAF8-D7901864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Симптом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791A7-B80E-4627-82B6-329C9BBB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95450"/>
            <a:ext cx="360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Вероятная причина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8F37D-0366-48E0-823B-F54E9133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954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проверить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A39A9D-7579-4D6D-84E1-9F98F758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11277600" cy="57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DC687-3CB1-44F8-8016-766B9C9F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 записей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6D7C1-C4D6-44A1-8F8A-A6F81E40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00275"/>
            <a:ext cx="3600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Нет Cloud Recording / host Basic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B3942-4DE2-4D5F-BB50-D893EB21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002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Тариф, Licensed host, MP4 в Zoom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4F1075-D7C9-46E2-AB9C-D2636511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11277600" cy="57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2F2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441BEE-12D9-4BA8-9A70-A7392418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Zoom 4711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F9306F-AC30-41AD-888D-0E425578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28925"/>
            <a:ext cx="3600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Не хватает granular scope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597CE4-4F15-4CB6-B953-B9D139AE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289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Сравнить все 7 scopes, затем re-activate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CE7422-E5B7-422F-9235-95C28E6E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1277600" cy="57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55D741-25F0-496A-AC00-C9B2F0F4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Подключение есть, данных нет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83720E-8DA5-4EAF-B267-288E86E2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57575"/>
            <a:ext cx="3600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Старая recurring/PMI без auto cloud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4DE10C-2691-49E9-8EA9-2BD3EDB7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575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Создать новую встречу после настройки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F83A61-1582-4681-B0FA-FD7ABFF6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11277600" cy="57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2F2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C7B168-39A7-4C25-8E0A-EA4A6736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Нет отдельных M4A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1AFC05-86D2-47A8-AEA1-5462DF77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86225"/>
            <a:ext cx="3600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Не включена отдельная дорожка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A1F971-83E0-498B-82A6-3E8A8612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862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Включить separate audio for each participant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47E580-3F0E-4717-8691-3186DC78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11277600" cy="57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539C47-12DF-42FD-8319-89790747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4382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4382C"/>
                </a:solidFill>
                <a:latin typeface="Arial"/>
                <a:ea typeface="Arial"/>
                <a:cs typeface="Arial"/>
              </a:rPr>
              <a:t>HTTP 500 в настройках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A919C1-E741-4894-9804-D34B9014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14875"/>
            <a:ext cx="3600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Ошибка backend/данных организации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944981-A261-487F-A1B2-B2E10F68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148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Снять скрин, время и обратиться админу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513724-57FB-46A7-AC31-F9DA487B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57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2F2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F04437-6441-4E08-AC4C-FD8AE177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Secret мог утечь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CEE4C1-BED2-40FE-B3F5-9442B502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43525"/>
            <a:ext cx="3600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36E"/>
                </a:solidFill>
                <a:latin typeface="Arial"/>
                <a:ea typeface="Arial"/>
                <a:cs typeface="Arial"/>
              </a:rPr>
              <a:t>Реквизит пересылали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3BD1FB-FDB0-4DF8-98F1-85800F43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3435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Rotate secret и обновить AxioMeet</a:t>
            </a:r>
          </a:p>
        </p:txBody>
      </p:sp>
    </p:spTree>
    <p:extLst>
      <p:ext uri="{BB962C8B-B14F-4D97-AF65-F5344CB8AC3E}">
        <p14:creationId xmlns:p14="http://schemas.microsoft.com/office/powerpoint/2010/main" val="12515382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A271E0-C8F1-4DAD-8279-A7765B82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8C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D8CFF"/>
                </a:solidFill>
                <a:latin typeface="Arial"/>
                <a:ea typeface="Arial"/>
                <a:cs typeface="Arial"/>
              </a:rPr>
              <a:t>НАСТРОЙКА ПЕРЕДАЧИ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8DC45-AE39-4CC1-ABE0-1952A9D3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Опционально: webhook ускоряет реакцию, но не заменяет сканер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B00EB-140D-4EAE-A315-346B5140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solidFill>
              <a:srgbClr val="CD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CB031-1479-43C5-BFA2-A65B215A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ZOOM → AXIOMEET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A127B-2B75-4CE1-A408-7EAA0605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81277-9178-4931-9D8D-24ED02AB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5695950" cy="4324350"/>
          </a:xfrm>
          <a:prstGeom xmlns:a="http://schemas.openxmlformats.org/drawingml/2006/main" prst="roundRect">
            <a:avLst>
              <a:gd name="adj" fmla="val 2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abe03e90114d13"/>
          <a:srcRect xmlns:a="http://schemas.openxmlformats.org/drawingml/2006/main" l="4528" t="0" r="45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" y="1628775"/>
            <a:ext cx="5600700" cy="4229100"/>
          </a:xfrm>
          <a:prstGeom xmlns:a="http://schemas.openxmlformats.org/drawingml/2006/main" prst="roundRect">
            <a:avLst>
              <a:gd name="adj" fmla="val 270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EA6A18-8DF5-4C58-ACD7-8937AE1D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2952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3"/>
          </a:solidFill>
          <a:ln xmlns:a="http://schemas.openxmlformats.org/drawingml/2006/main" w="0">
            <a:solidFill>
              <a:srgbClr val="FFF0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0A33B4-677B-4197-A78F-F2023B58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79A5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79A54"/>
                </a:solidFill>
                <a:latin typeface="Arial"/>
                <a:ea typeface="Arial"/>
                <a:cs typeface="Arial"/>
              </a:rPr>
              <a:t>НАСТРАИВАЕТ AXIOMEET ADMIN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CF537C-F938-4CF5-A9D5-66535D64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4550"/>
            <a:ext cx="483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59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B5964"/>
                </a:solidFill>
                <a:latin typeface="Arial"/>
                <a:ea typeface="Arial"/>
                <a:cs typeface="Arial"/>
              </a:rPr>
              <a:t>Точные значения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170A0D-4BBF-4235-9DD5-5A331548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76500"/>
            <a:ext cx="4838700" cy="595313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6E2F7-4534-462F-B90A-04C61503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52700"/>
            <a:ext cx="180022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Subscription Name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EE73C-F5BF-4828-8EDB-F58FF258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543175"/>
            <a:ext cx="2676525" cy="461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8CFF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2D8CFF"/>
                </a:solidFill>
                <a:latin typeface="Courier New"/>
                <a:ea typeface="Courier New"/>
                <a:cs typeface="Courier New"/>
              </a:rPr>
              <a:t>AxioMeet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9AFA80-C7E3-4D80-9B84-5BE172BC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09913"/>
            <a:ext cx="4838700" cy="595313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EF2F2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66F0E6-2DF2-4A4C-87DB-204B4E78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86113"/>
            <a:ext cx="180022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Event notification endpoint URL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2BCF54-ECE9-4FC5-9DC3-5F89323D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176588"/>
            <a:ext cx="2676525" cy="461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8CFF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2D8CFF"/>
                </a:solidFill>
                <a:latin typeface="Courier New"/>
                <a:ea typeface="Courier New"/>
                <a:cs typeface="Courier New"/>
              </a:rPr>
              <a:t>https://app.axiomeet.io/webhook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D0C5B8-7864-4D09-8CC2-DE9269E6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43325"/>
            <a:ext cx="4838700" cy="595313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657F4D-4560-45E3-8975-6AE38E37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19525"/>
            <a:ext cx="180022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Event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FF7DFF-8BEA-4330-A7CD-A1A04ACE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810000"/>
            <a:ext cx="2676525" cy="461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8CFF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2D8CFF"/>
                </a:solidFill>
                <a:latin typeface="Courier New"/>
                <a:ea typeface="Courier New"/>
                <a:cs typeface="Courier New"/>
              </a:rPr>
              <a:t>All Recordings have completed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9CA3EF-C202-4099-A6DC-2FC99D54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76738"/>
            <a:ext cx="4838700" cy="595313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EF2F2"/>
          </a:solidFill>
          <a:ln xmlns:a="http://schemas.openxmlformats.org/drawingml/2006/main" w="9525">
            <a:solidFill>
              <a:srgbClr val="CD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3261C3-94DF-4DAF-B1E2-2536C6D4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52938"/>
            <a:ext cx="180022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Event code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CF53CF-65F0-41B0-AD95-25CA76DE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443413"/>
            <a:ext cx="2676525" cy="461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8CFF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2D8CFF"/>
                </a:solidFill>
                <a:latin typeface="Courier New"/>
                <a:ea typeface="Courier New"/>
                <a:cs typeface="Courier New"/>
              </a:rPr>
              <a:t>recording.completed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68FEBB-B2EA-431D-9028-D725B26F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19700"/>
            <a:ext cx="48387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F1FF"/>
          </a:solidFill>
          <a:ln xmlns:a="http://schemas.openxmlformats.org/drawingml/2006/main" w="9525">
            <a:solidFill>
              <a:srgbClr val="2D8C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738245-F233-4596-B640-F87A9F9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721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D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D8CFF"/>
                </a:solidFill>
                <a:latin typeface="Arial"/>
                <a:ea typeface="Arial"/>
                <a:cs typeface="Arial"/>
              </a:rPr>
              <a:t>Secret Token не публикуется: его передаёт администратор AxioMeet по защищённому каналу.</a:t>
            </a:r>
          </a:p>
        </p:txBody>
      </p:sp>
    </p:spTree>
    <p:extLst>
      <p:ext uri="{BB962C8B-B14F-4D97-AF65-F5344CB8AC3E}">
        <p14:creationId xmlns:p14="http://schemas.microsoft.com/office/powerpoint/2010/main" val="5437808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D1EEB9-3248-4DB5-B537-CAAAF492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8C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D8CFF"/>
                </a:solidFill>
                <a:latin typeface="Arial"/>
                <a:ea typeface="Arial"/>
                <a:cs typeface="Arial"/>
              </a:rPr>
              <a:t>ФИНИШНАЯ ПРОВЕРКА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3CAE5-9470-42D9-9A16-DC4A67D5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Настройка готова, когда…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664D4-1651-40C7-A5DB-71AA5289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52"/>
          </a:solidFill>
          <a:ln xmlns:a="http://schemas.openxmlformats.org/drawingml/2006/main" w="0">
            <a:solidFill>
              <a:srgbClr val="2F6F5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CD6F4-B119-4624-AA74-7A0AF80F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71675"/>
            <a:ext cx="824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S2S app активно; поля Information заполнены готовыми значениями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9AAD3-37EB-4B96-90A6-1962FD40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52"/>
          </a:solidFill>
          <a:ln xmlns:a="http://schemas.openxmlformats.org/drawingml/2006/main" w="0">
            <a:solidFill>
              <a:srgbClr val="2F6F5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71F0E-6C1F-4A00-80CF-A586579F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0325"/>
            <a:ext cx="824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Все 7 scopes добавлены; meeting:read:list_past_participants:admin обязателен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65D24C-9721-46BC-B7D8-DD2D56B4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575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52"/>
          </a:solidFill>
          <a:ln xmlns:a="http://schemas.openxmlformats.org/drawingml/2006/main" w="0">
            <a:solidFill>
              <a:srgbClr val="2F6F5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AD6A0-CF18-4255-8C0B-4D9C4FC7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28975"/>
            <a:ext cx="824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Cloud Recording и Automatic recording → cloud включены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A987F-E350-44A7-90F0-162C123C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862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52"/>
          </a:solidFill>
          <a:ln xmlns:a="http://schemas.openxmlformats.org/drawingml/2006/main" w="0">
            <a:solidFill>
              <a:srgbClr val="2F6F5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148EB-D5DD-446D-B024-05D5E5BB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57625"/>
            <a:ext cx="824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59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B5964"/>
                </a:solidFill>
                <a:latin typeface="Arial"/>
                <a:ea typeface="Arial"/>
                <a:cs typeface="Arial"/>
              </a:rPr>
              <a:t>Record a separate audio file of each participant = 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58748-25E2-49F1-A629-F2BB8430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52"/>
          </a:solidFill>
          <a:ln xmlns:a="http://schemas.openxmlformats.org/drawingml/2006/main" w="0">
            <a:solidFill>
              <a:srgbClr val="2F6F5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FD46CF-B28F-4E06-A50A-68F364D7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86275"/>
            <a:ext cx="824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Client Secret введён напрямую и нигде не пересылается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035838-D845-477A-A400-D0E8A847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52"/>
          </a:solidFill>
          <a:ln xmlns:a="http://schemas.openxmlformats.org/drawingml/2006/main" w="0">
            <a:solidFill>
              <a:srgbClr val="2F6F5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937836-E91C-444C-B03A-24271B4C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14925"/>
            <a:ext cx="824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596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B5964"/>
                </a:solidFill>
                <a:latin typeface="Arial"/>
                <a:ea typeface="Arial"/>
                <a:cs typeface="Arial"/>
              </a:rPr>
              <a:t>Тестовая встреча дала MP4 + отдельные M4A в AxioMeet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7444E2-DB43-45F2-A5A5-400686DB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66900"/>
            <a:ext cx="2228850" cy="37909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2D8CFF"/>
          </a:solidFill>
          <a:ln xmlns:a="http://schemas.openxmlformats.org/drawingml/2006/main" w="0">
            <a:solidFill>
              <a:srgbClr val="2D8C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0F6008-F068-4A1A-9984-6961F66B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90750"/>
            <a:ext cx="1733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Критерий успеха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059F14-1F5B-411D-9CEF-3CC80842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90850"/>
            <a:ext cx="17335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MP4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отдельные M4A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 AxioMeet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3B7028-D52E-4028-A181-B47BE150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97205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CEB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CEBFF"/>
                </a:solidFill>
                <a:latin typeface="Arial"/>
                <a:ea typeface="Arial"/>
                <a:cs typeface="Arial"/>
              </a:rPr>
              <a:t>Не только токен.</a:t>
            </a:r>
          </a:p>
          <a:p xmlns:a="http://schemas.openxmlformats.org/drawingml/2006/main">
            <a:pPr algn="ctr">
              <a:defRPr sz="1125" b="0">
                <a:solidFill>
                  <a:srgbClr val="DCEB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CEBFF"/>
                </a:solidFill>
                <a:latin typeface="Arial"/>
                <a:ea typeface="Arial"/>
                <a:cs typeface="Arial"/>
              </a:rPr>
              <a:t>Не только статус.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928B78-7DB6-4310-A91D-2411391C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solidFill>
              <a:srgbClr val="CD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A808A2-F00B-4643-9B97-2AE7AB4B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AXIOMEET / ZOOM SETUP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2621D3-84EA-4199-A08E-5AF43E71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9636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083638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2026-08-26T08:06:54.6690000Z</dcterms:created>
  <dcterms:modified xsi:type="dcterms:W3CDTF">2026-08-26T08:06:54.6690000Z</dcterms:modified>
</coreProperties>
</file>